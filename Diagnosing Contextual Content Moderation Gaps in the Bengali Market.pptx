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70" r:id="rId4"/>
    <p:sldId id="271" r:id="rId5"/>
    <p:sldId id="273" r:id="rId6"/>
    <p:sldId id="272" r:id="rId7"/>
    <p:sldId id="274" r:id="rId8"/>
    <p:sldId id="275" r:id="rId9"/>
    <p:sldId id="276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29" autoAdjust="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D5444-F62C-42C3-A75A-D9DBA807730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F617-7A30-41D4-AB86-5D833C98E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2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AA1FA-7B6A-47D2-8D61-F225D71B51F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A179D-2D27-49E2-B022-8EDDA2EFE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A179D-2D27-49E2-B022-8EDDA2EFE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 noChangeArrowheads="1"/>
          </p:cNvSpPr>
          <p:nvPr/>
        </p:nvSpPr>
        <p:spPr bwMode="white">
          <a:xfrm>
            <a:off x="8429022" y="0"/>
            <a:ext cx="3762978" cy="6858000"/>
          </a:xfrm>
          <a:custGeom>
            <a:avLst/>
            <a:gdLst>
              <a:gd name="connsiteX0" fmla="*/ 0 w 3762978"/>
              <a:gd name="connsiteY0" fmla="*/ 0 h 6858000"/>
              <a:gd name="connsiteX1" fmla="*/ 3762978 w 3762978"/>
              <a:gd name="connsiteY1" fmla="*/ 0 h 6858000"/>
              <a:gd name="connsiteX2" fmla="*/ 3762978 w 3762978"/>
              <a:gd name="connsiteY2" fmla="*/ 6858000 h 6858000"/>
              <a:gd name="connsiteX3" fmla="*/ 338667 w 3762978"/>
              <a:gd name="connsiteY3" fmla="*/ 6858000 h 6858000"/>
              <a:gd name="connsiteX4" fmla="*/ 1189567 w 3762978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978" h="6858000">
                <a:moveTo>
                  <a:pt x="0" y="0"/>
                </a:moveTo>
                <a:lnTo>
                  <a:pt x="3762978" y="0"/>
                </a:lnTo>
                <a:lnTo>
                  <a:pt x="3762978" y="6858000"/>
                </a:lnTo>
                <a:lnTo>
                  <a:pt x="338667" y="6858000"/>
                </a:lnTo>
                <a:lnTo>
                  <a:pt x="1189567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80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8145385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950653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873584"/>
            <a:ext cx="640080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400800" cy="16002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258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white">
          <a:xfrm>
            <a:off x="6540503" y="0"/>
            <a:ext cx="5651496" cy="6858000"/>
          </a:xfrm>
          <a:custGeom>
            <a:avLst/>
            <a:gdLst/>
            <a:ahLst/>
            <a:cxnLst/>
            <a:rect l="l" t="t" r="r" b="b"/>
            <a:pathLst>
              <a:path w="4238622" h="6858000">
                <a:moveTo>
                  <a:pt x="0" y="0"/>
                </a:moveTo>
                <a:lnTo>
                  <a:pt x="4086222" y="0"/>
                </a:lnTo>
                <a:lnTo>
                  <a:pt x="4237035" y="0"/>
                </a:lnTo>
                <a:lnTo>
                  <a:pt x="4238622" y="0"/>
                </a:lnTo>
                <a:lnTo>
                  <a:pt x="4238622" y="6858000"/>
                </a:lnTo>
                <a:lnTo>
                  <a:pt x="4237035" y="6858000"/>
                </a:lnTo>
                <a:lnTo>
                  <a:pt x="4086222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6256868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062136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1873584"/>
            <a:ext cx="512064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 descr="An empty placeholder to add an image. Click on the placeholder and select the image that you wish to add"/>
          <p:cNvSpPr>
            <a:spLocks noGrp="1"/>
          </p:cNvSpPr>
          <p:nvPr>
            <p:ph type="pic" sz="quarter" idx="10"/>
          </p:nvPr>
        </p:nvSpPr>
        <p:spPr>
          <a:xfrm>
            <a:off x="6743703" y="0"/>
            <a:ext cx="5448297" cy="6858000"/>
          </a:xfrm>
          <a:custGeom>
            <a:avLst/>
            <a:gdLst>
              <a:gd name="connsiteX0" fmla="*/ 0 w 5448297"/>
              <a:gd name="connsiteY0" fmla="*/ 0 h 6858000"/>
              <a:gd name="connsiteX1" fmla="*/ 5448297 w 5448297"/>
              <a:gd name="connsiteY1" fmla="*/ 0 h 6858000"/>
              <a:gd name="connsiteX2" fmla="*/ 5448297 w 5448297"/>
              <a:gd name="connsiteY2" fmla="*/ 6858000 h 6858000"/>
              <a:gd name="connsiteX3" fmla="*/ 338667 w 5448297"/>
              <a:gd name="connsiteY3" fmla="*/ 6858000 h 6858000"/>
              <a:gd name="connsiteX4" fmla="*/ 1185333 w 5448297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297" h="6858000">
                <a:moveTo>
                  <a:pt x="0" y="0"/>
                </a:moveTo>
                <a:lnTo>
                  <a:pt x="5448297" y="0"/>
                </a:lnTo>
                <a:lnTo>
                  <a:pt x="5448297" y="6858000"/>
                </a:lnTo>
                <a:lnTo>
                  <a:pt x="338667" y="6858000"/>
                </a:lnTo>
                <a:lnTo>
                  <a:pt x="1185333" y="43370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tIns="36576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600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028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white">
          <a:xfrm>
            <a:off x="9622368" y="0"/>
            <a:ext cx="2569632" cy="6858000"/>
          </a:xfrm>
          <a:custGeom>
            <a:avLst/>
            <a:gdLst/>
            <a:ahLst/>
            <a:cxnLst/>
            <a:rect l="l" t="t" r="r" b="b"/>
            <a:pathLst>
              <a:path w="1927224" h="6858000">
                <a:moveTo>
                  <a:pt x="0" y="0"/>
                </a:moveTo>
                <a:lnTo>
                  <a:pt x="1927224" y="0"/>
                </a:lnTo>
                <a:lnTo>
                  <a:pt x="192722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9237132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8" y="2914650"/>
            <a:ext cx="8046720" cy="155733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398" y="4589463"/>
            <a:ext cx="8046718" cy="1011237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6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8799"/>
            <a:ext cx="4572000" cy="4343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0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4572000" cy="850392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705100"/>
            <a:ext cx="4572000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800"/>
            <a:ext cx="4572000" cy="847725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705100"/>
            <a:ext cx="4572000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3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8209" y="1828800"/>
            <a:ext cx="6126480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724400" y="1828801"/>
            <a:ext cx="6172200" cy="434340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1295400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6324599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95400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6324599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98448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invGray">
          <a:xfrm>
            <a:off x="1371273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3"/>
          </p:nvPr>
        </p:nvSpPr>
        <p:spPr>
          <a:xfrm>
            <a:off x="63246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 bwMode="invGray">
          <a:xfrm>
            <a:off x="6412954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1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 rot="5400000">
            <a:off x="7562850" y="2228850"/>
            <a:ext cx="6858000" cy="2400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6331230" y="3387909"/>
            <a:ext cx="6858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5400000">
            <a:off x="6251613" y="3387909"/>
            <a:ext cx="6858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71318" y="685800"/>
            <a:ext cx="103327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685800"/>
            <a:ext cx="7976754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0" y="0"/>
            <a:ext cx="121920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1371600"/>
            <a:ext cx="12192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1443006"/>
            <a:ext cx="12192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399" y="6374999"/>
            <a:ext cx="624320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91449" y="6374999"/>
            <a:ext cx="148070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9A3335-6331-4872-A8B7-ECD55539F4D0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5000" y="6374999"/>
            <a:ext cx="1371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3" y="2833704"/>
            <a:ext cx="4964428" cy="1600200"/>
          </a:xfrm>
        </p:spPr>
        <p:txBody>
          <a:bodyPr>
            <a:normAutofit fontScale="90000"/>
          </a:bodyPr>
          <a:lstStyle/>
          <a:p>
            <a:r>
              <a:rPr lang="en-US" dirty="0"/>
              <a:t>Diagnosing Contextual Content Moderation Gaps in the India–Bengali Market</a:t>
            </a:r>
          </a:p>
        </p:txBody>
      </p:sp>
      <p:pic>
        <p:nvPicPr>
          <p:cNvPr id="5" name="Picture Placeholder 4" descr="City street with motion blur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" b="1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8059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Contextual offensive content in the India–Bengali market is systematically under-detected, leading to delayed enforcement and silent 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53310"/>
            <a:ext cx="9601200" cy="365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AI moderation avoids over-flagging benign content but </a:t>
            </a:r>
            <a:r>
              <a:rPr lang="en-US" b="1" dirty="0"/>
              <a:t>misses a significant share of offensive posts</a:t>
            </a:r>
          </a:p>
          <a:p>
            <a:pPr>
              <a:lnSpc>
                <a:spcPct val="100000"/>
              </a:lnSpc>
            </a:pPr>
            <a:r>
              <a:rPr lang="en-US" dirty="0"/>
              <a:t>Missed content remains live </a:t>
            </a:r>
            <a:r>
              <a:rPr lang="en-US" b="1" dirty="0"/>
              <a:t>~2× longer</a:t>
            </a:r>
            <a:r>
              <a:rPr lang="en-US" dirty="0"/>
              <a:t>, increasing user harm</a:t>
            </a:r>
          </a:p>
          <a:p>
            <a:pPr>
              <a:lnSpc>
                <a:spcPct val="100000"/>
              </a:lnSpc>
            </a:pPr>
            <a:r>
              <a:rPr lang="en-US" dirty="0"/>
              <a:t>Risk concentrates in </a:t>
            </a:r>
            <a:r>
              <a:rPr lang="en-US" b="1" dirty="0"/>
              <a:t>comments, crisis periods, and contextual content</a:t>
            </a:r>
          </a:p>
          <a:p>
            <a:pPr>
              <a:lnSpc>
                <a:spcPct val="100000"/>
              </a:lnSpc>
            </a:pPr>
            <a:r>
              <a:rPr lang="en-US" b="1" dirty="0"/>
              <a:t>Market-specific operational interventions</a:t>
            </a:r>
            <a:r>
              <a:rPr lang="en-US" dirty="0"/>
              <a:t> are required to close the gap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3987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8960-56C6-C8AD-2724-EBAFF0DB5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22BC-97BA-1E06-E715-FA9D6821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High-volume, user-generated content dominates the moderation workload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7261-B4E5-A502-E993-F20E2831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308" y="2744354"/>
            <a:ext cx="5303532" cy="251228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Comments ≈ 50% of total content volume</a:t>
            </a:r>
          </a:p>
          <a:p>
            <a:r>
              <a:rPr lang="en-US" dirty="0"/>
              <a:t>Posts (~30%) and Ads (~15%) form smaller shares</a:t>
            </a:r>
          </a:p>
          <a:p>
            <a:r>
              <a:rPr lang="en-US" dirty="0"/>
              <a:t>User interactions, not ads, drive moderation exposure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4304BB-2018-DF6C-1877-36589FCE4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816" y="1673347"/>
            <a:ext cx="5303531" cy="46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40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AC1C-6415-7F8F-5264-2F10F3A9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93867-F3E6-7DC3-D672-F6989DF3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Facebook carries higher and more diverse moderation risk than Instagram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88203-5346-A5BA-60CC-49F718DB9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90" y="2552044"/>
            <a:ext cx="5303531" cy="2900214"/>
          </a:xfrm>
        </p:spPr>
        <p:txBody>
          <a:bodyPr/>
          <a:lstStyle/>
          <a:p>
            <a:r>
              <a:rPr lang="en-US" b="1" dirty="0"/>
              <a:t>Facebook </a:t>
            </a:r>
            <a:r>
              <a:rPr lang="en-US" dirty="0"/>
              <a:t>dominates overall volume and content diversity</a:t>
            </a:r>
            <a:endParaRPr lang="en-US" b="1" dirty="0"/>
          </a:p>
          <a:p>
            <a:r>
              <a:rPr lang="en-US" dirty="0"/>
              <a:t>Instagram is </a:t>
            </a:r>
            <a:r>
              <a:rPr lang="en-US" b="1" dirty="0"/>
              <a:t>comment-heavy</a:t>
            </a:r>
            <a:r>
              <a:rPr lang="en-US" dirty="0"/>
              <a:t>, amplifying conversational risk</a:t>
            </a:r>
          </a:p>
          <a:p>
            <a:r>
              <a:rPr lang="en-US" dirty="0"/>
              <a:t>Platform mix affects how enforcement capacity must be allocated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38DA8-7ED4-F7F6-C5ED-93DABEDD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979" y="1665855"/>
            <a:ext cx="5303531" cy="467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2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6560-7470-483C-6350-B6CB649E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119B-AEC8-40DD-C1FF-FC1B6C54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content is socially or politically expressive, limiting keyword-based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A069D-76A6-F4AE-8D34-009CCBE03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788" y="5255491"/>
            <a:ext cx="3887036" cy="1515491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dirty="0"/>
              <a:t>Nearly </a:t>
            </a:r>
            <a:r>
              <a:rPr lang="en-US" b="1" dirty="0"/>
              <a:t>50%</a:t>
            </a:r>
            <a:r>
              <a:rPr lang="en-US" dirty="0"/>
              <a:t> of content is politically or meme-</a:t>
            </a:r>
            <a:r>
              <a:rPr lang="en-US" dirty="0" err="1"/>
              <a:t>tically</a:t>
            </a:r>
            <a:r>
              <a:rPr lang="en-US" dirty="0"/>
              <a:t> expressive</a:t>
            </a:r>
          </a:p>
          <a:p>
            <a:pPr marL="0" indent="0" algn="just">
              <a:buNone/>
            </a:pPr>
            <a:r>
              <a:rPr lang="en-US" dirty="0"/>
              <a:t>These categories rely heavily on context, tone, and implication, not explicit abuse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262969-0667-0563-3614-05C8D8126B52}"/>
              </a:ext>
            </a:extLst>
          </p:cNvPr>
          <p:cNvSpPr txBox="1">
            <a:spLocks/>
          </p:cNvSpPr>
          <p:nvPr/>
        </p:nvSpPr>
        <p:spPr>
          <a:xfrm>
            <a:off x="6883762" y="5615708"/>
            <a:ext cx="4311932" cy="8959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500" dirty="0"/>
              <a:t>Offensiveness is </a:t>
            </a:r>
            <a:r>
              <a:rPr lang="en-US" sz="1500" b="1" dirty="0"/>
              <a:t>not confined to “expected” categories</a:t>
            </a:r>
            <a:r>
              <a:rPr lang="en-US" sz="1500" dirty="0"/>
              <a:t> — even neutral-looking content carries risk.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D102D7-E0D5-9184-462F-CD11A04A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88" y="1672134"/>
            <a:ext cx="3887035" cy="3698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DEA8AF-2A4F-4328-7939-8353C7C4A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762" y="1672134"/>
            <a:ext cx="4311932" cy="369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25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DB5A-6FDD-7367-9ABF-FE85D6F8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0DD9-6B31-7FCE-95EF-4588736D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moderation avoids false positives but fails to catch a large share of offensive content.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68DC5-6D84-C089-47E4-3FEF49B87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507" y="2157845"/>
            <a:ext cx="5184659" cy="3685308"/>
          </a:xfrm>
        </p:spPr>
        <p:txBody>
          <a:bodyPr>
            <a:normAutofit/>
          </a:bodyPr>
          <a:lstStyle/>
          <a:p>
            <a:r>
              <a:rPr lang="en-US" dirty="0"/>
              <a:t>For non-offensive content, AI correctly leaves ~90% unflagged</a:t>
            </a:r>
          </a:p>
          <a:p>
            <a:r>
              <a:rPr lang="en-US" dirty="0"/>
              <a:t>For offensive content, AI misses ~40–45%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Indicates high precision, low recall</a:t>
            </a:r>
            <a:endParaRPr lang="en-US" b="1" i="1" dirty="0"/>
          </a:p>
          <a:p>
            <a:pPr marL="0" indent="0">
              <a:buNone/>
            </a:pPr>
            <a:r>
              <a:rPr lang="en-US" i="1" dirty="0"/>
              <a:t>The system is conservative by design — but this creates silent exposure risk.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76F827-5980-9D2F-B1B3-619D08DA0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835" y="1641343"/>
            <a:ext cx="5184658" cy="471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29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8A7B-431A-F1F4-657A-A0928278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15AC-D8A4-C34C-B8A5-25F4AEFF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Detection failures intensify at specific category × crisis intersections.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E97A4-2826-65C5-287E-24DDDF93D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994" y="1670853"/>
            <a:ext cx="5655770" cy="4739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Highest false-negative risks:</a:t>
            </a:r>
          </a:p>
          <a:p>
            <a:r>
              <a:rPr lang="en-US" dirty="0"/>
              <a:t>Neutral × Protest (~0.56)</a:t>
            </a:r>
          </a:p>
          <a:p>
            <a:r>
              <a:rPr lang="en-US" dirty="0"/>
              <a:t>Meme × Protest (~0.56)</a:t>
            </a:r>
          </a:p>
          <a:p>
            <a:r>
              <a:rPr lang="en-US" dirty="0"/>
              <a:t>Neutral × Election (~0.53)</a:t>
            </a:r>
          </a:p>
          <a:p>
            <a:pPr marL="0" indent="0">
              <a:buNone/>
            </a:pPr>
            <a:r>
              <a:rPr lang="en-US" b="1" dirty="0"/>
              <a:t>Lowest risk:</a:t>
            </a:r>
          </a:p>
          <a:p>
            <a:r>
              <a:rPr lang="en-US" dirty="0"/>
              <a:t>Social × Election (~0.38)</a:t>
            </a:r>
            <a:endParaRPr lang="en-US" b="1" i="1" dirty="0"/>
          </a:p>
          <a:p>
            <a:pPr marL="0" indent="0">
              <a:buNone/>
            </a:pPr>
            <a:r>
              <a:rPr lang="en-US" i="1" dirty="0"/>
              <a:t>Seemingly benign or humorous content becomes dangerous in volatile contexts</a:t>
            </a:r>
          </a:p>
          <a:p>
            <a:pPr marL="0" indent="0">
              <a:buNone/>
            </a:pPr>
            <a:r>
              <a:rPr lang="en-US" i="1" dirty="0"/>
              <a:t>AI struggles most when context flips meaning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2A1B7-EB64-4697-91F2-EABEB7B6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236" y="1670854"/>
            <a:ext cx="5655770" cy="473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09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05D44-94F3-F70A-6360-B59DCF1C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163C-9ACA-7D98-2D6C-E3324411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misses significantly increase time-to-action, extending user harm.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1A0A-ED23-8B13-DEA2-582657BF2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68" y="1828799"/>
            <a:ext cx="5612716" cy="4472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 false negatives:</a:t>
            </a:r>
          </a:p>
          <a:p>
            <a:r>
              <a:rPr lang="en-US" dirty="0"/>
              <a:t>Median TTA ≈ 20 hours</a:t>
            </a:r>
          </a:p>
          <a:p>
            <a:r>
              <a:rPr lang="en-US" dirty="0"/>
              <a:t>Tight distribution, low variance</a:t>
            </a:r>
          </a:p>
          <a:p>
            <a:pPr marL="0" indent="0">
              <a:buNone/>
            </a:pPr>
            <a:r>
              <a:rPr lang="en-US" b="1" dirty="0"/>
              <a:t>False negatives:</a:t>
            </a:r>
          </a:p>
          <a:p>
            <a:r>
              <a:rPr lang="en-US" dirty="0"/>
              <a:t>Median TTA ≈ 40 hours</a:t>
            </a:r>
          </a:p>
          <a:p>
            <a:r>
              <a:rPr lang="en-US" dirty="0"/>
              <a:t>Long tail up to </a:t>
            </a:r>
            <a:r>
              <a:rPr lang="en-US" b="1" dirty="0"/>
              <a:t>120 hours</a:t>
            </a:r>
          </a:p>
          <a:p>
            <a:pPr marL="0" indent="0">
              <a:buNone/>
            </a:pPr>
            <a:r>
              <a:rPr lang="en-US" i="1" dirty="0"/>
              <a:t>Missed content stays live 2× longer, compounding harm during sensitive periods.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06C147-DB37-D6A1-445E-E025BFF0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418" y="1828800"/>
            <a:ext cx="5612715" cy="44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02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129B-0A29-DF12-EB23-7CC072FE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6CF5-0C07-0A86-9909-986CC3F9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High-volume comment streams are the largest source of undetected harm.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789BF-5C5C-F497-DA65-035AC0805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01" y="2222501"/>
            <a:ext cx="5221235" cy="3555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Silent harm cases:</a:t>
            </a:r>
          </a:p>
          <a:p>
            <a:r>
              <a:rPr lang="en-US" dirty="0"/>
              <a:t>Comments: ~350</a:t>
            </a:r>
          </a:p>
          <a:p>
            <a:r>
              <a:rPr lang="en-US" dirty="0"/>
              <a:t>Posts: ~200</a:t>
            </a:r>
          </a:p>
          <a:p>
            <a:r>
              <a:rPr lang="en-US" dirty="0"/>
              <a:t>Ads: ~100</a:t>
            </a:r>
          </a:p>
          <a:p>
            <a:pPr marL="0" indent="0">
              <a:buNone/>
            </a:pPr>
            <a:r>
              <a:rPr lang="en-US" i="1" dirty="0"/>
              <a:t>Scale + conversational dynamics make comments hardest to police</a:t>
            </a:r>
          </a:p>
          <a:p>
            <a:pPr marL="0" indent="0">
              <a:buNone/>
            </a:pPr>
            <a:r>
              <a:rPr lang="en-US" i="1" dirty="0"/>
              <a:t>Reliance on user reporting is insufficient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E4DA57-00CE-6C92-9597-071AFEAFB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965" y="1673347"/>
            <a:ext cx="5221234" cy="46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42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87C2-1E60-32E3-996C-5AC0C7F8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B996-E90C-7A97-053F-744DB4E3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Resolution: </a:t>
            </a:r>
            <a:r>
              <a:rPr lang="en-US" dirty="0"/>
              <a:t>Market-specific, context-aware operations can materially reduce risk without over-enforcement.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F00C3-ACC5-8F9F-DD5E-270B6E63A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056" y="1616364"/>
            <a:ext cx="4366491" cy="2299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Contextual Risk Routing</a:t>
            </a:r>
          </a:p>
          <a:p>
            <a:pPr marL="0" indent="0">
              <a:buNone/>
            </a:pPr>
            <a:r>
              <a:rPr lang="en-US" dirty="0"/>
              <a:t>Prioritize human review for:</a:t>
            </a:r>
          </a:p>
          <a:p>
            <a:pPr lvl="1"/>
            <a:r>
              <a:rPr lang="en-US" dirty="0"/>
              <a:t>Comments</a:t>
            </a:r>
          </a:p>
          <a:p>
            <a:pPr lvl="1"/>
            <a:r>
              <a:rPr lang="en-US" dirty="0"/>
              <a:t>Meme &amp; Neutral content</a:t>
            </a:r>
          </a:p>
          <a:p>
            <a:pPr lvl="1"/>
            <a:r>
              <a:rPr lang="en-US" dirty="0"/>
              <a:t>Protest &amp; Election periods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6EB57C-4B80-EDA6-DFBF-5A96B74F2B43}"/>
              </a:ext>
            </a:extLst>
          </p:cNvPr>
          <p:cNvSpPr txBox="1">
            <a:spLocks/>
          </p:cNvSpPr>
          <p:nvPr/>
        </p:nvSpPr>
        <p:spPr>
          <a:xfrm>
            <a:off x="725055" y="4387272"/>
            <a:ext cx="4366491" cy="1828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False-Negative Monitoring</a:t>
            </a:r>
            <a:endParaRPr lang="en-US" dirty="0"/>
          </a:p>
          <a:p>
            <a:pPr lvl="1"/>
            <a:r>
              <a:rPr lang="en-US" dirty="0"/>
              <a:t>Track category × crisis risk patterns as operational KPIs</a:t>
            </a:r>
          </a:p>
          <a:p>
            <a:pPr lvl="1"/>
            <a:r>
              <a:rPr lang="en-US" dirty="0"/>
              <a:t>Use these signals to guide escalations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7039E4-84BB-93D5-10B3-88FE1843481F}"/>
              </a:ext>
            </a:extLst>
          </p:cNvPr>
          <p:cNvSpPr txBox="1">
            <a:spLocks/>
          </p:cNvSpPr>
          <p:nvPr/>
        </p:nvSpPr>
        <p:spPr>
          <a:xfrm>
            <a:off x="7100454" y="1616365"/>
            <a:ext cx="4366491" cy="2032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Crisis Playbooks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Expect higher false negatives during crises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Pre-emptively allocate review capacity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2BF292-CD72-9517-266B-8FEAC61F2ED8}"/>
              </a:ext>
            </a:extLst>
          </p:cNvPr>
          <p:cNvSpPr txBox="1">
            <a:spLocks/>
          </p:cNvSpPr>
          <p:nvPr/>
        </p:nvSpPr>
        <p:spPr>
          <a:xfrm>
            <a:off x="7100454" y="4174836"/>
            <a:ext cx="4366491" cy="20320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Expected Outcomes</a:t>
            </a:r>
          </a:p>
          <a:p>
            <a:r>
              <a:rPr lang="en-US" b="1" dirty="0"/>
              <a:t>Faster time-to-action</a:t>
            </a:r>
          </a:p>
          <a:p>
            <a:r>
              <a:rPr lang="en-US" b="1" dirty="0"/>
              <a:t>Reduced silent harm</a:t>
            </a:r>
          </a:p>
          <a:p>
            <a:r>
              <a:rPr lang="en-US" b="1" dirty="0"/>
              <a:t>Lower escalation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521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ales Direction 16X9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rection presentation (widescreen).potx" id="{D17AB31B-F25B-45F4-B34E-C6982D129A29}" vid="{B63A7B92-8C2A-4E6A-9062-768A2448E61C}"/>
    </a:ext>
  </a:extLst>
</a:theme>
</file>

<file path=ppt/theme/theme2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direction presentation (widescreen)</Template>
  <TotalTime>87</TotalTime>
  <Words>506</Words>
  <Application>Microsoft Office PowerPoint</Application>
  <PresentationFormat>Widescreen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Book Antiqua</vt:lpstr>
      <vt:lpstr>Sales Direction 16X9</vt:lpstr>
      <vt:lpstr>Diagnosing Contextual Content Moderation Gaps in the India–Bengali Market</vt:lpstr>
      <vt:lpstr>Contextual offensive content in the India–Bengali market is systematically under-detected, leading to delayed enforcement and silent harm</vt:lpstr>
      <vt:lpstr>High-volume, user-generated content dominates the moderation workload</vt:lpstr>
      <vt:lpstr>Facebook carries higher and more diverse moderation risk than Instagram</vt:lpstr>
      <vt:lpstr>Most content is socially or politically expressive, limiting keyword-based detection</vt:lpstr>
      <vt:lpstr>AI moderation avoids false positives but fails to catch a large share of offensive content.</vt:lpstr>
      <vt:lpstr>Detection failures intensify at specific category × crisis intersections.</vt:lpstr>
      <vt:lpstr>AI misses significantly increase time-to-action, extending user harm.</vt:lpstr>
      <vt:lpstr>High-volume comment streams are the largest source of undetected harm.</vt:lpstr>
      <vt:lpstr>Resolution: Market-specific, context-aware operations can materially reduce risk without over-enforcement.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Debajyoty Sen</dc:creator>
  <cp:lastModifiedBy>Debajyoty Sen</cp:lastModifiedBy>
  <cp:revision>2</cp:revision>
  <dcterms:created xsi:type="dcterms:W3CDTF">2026-01-05T17:57:02Z</dcterms:created>
  <dcterms:modified xsi:type="dcterms:W3CDTF">2026-01-05T19:24:42Z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